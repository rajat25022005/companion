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Pollution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statistics, causes, impacts, and mitigation strategies (2022‑2024)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Statistics (2022‑2024)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~7 million premature deaths per year due to air pollution (WHO).</a:t>
            </a:r>
          </a:p>
          <a:p>
            <a:pPr/>
            <a:r>
              <a:t>91 % of world population lives where air quality exceeds WHO limits (WHO 2022).</a:t>
            </a:r>
          </a:p>
          <a:p>
            <a:pPr/>
            <a:r>
              <a:t>~2 billion people use drinking‑water sources contaminated with feces (WHO/UNICEF).</a:t>
            </a:r>
          </a:p>
          <a:p>
            <a:pPr/>
            <a:r>
              <a:t>Only ~20 % of industrial wastewater is treated before discharge (UN Water).</a:t>
            </a:r>
          </a:p>
          <a:p>
            <a:pPr/>
            <a:r>
              <a:t>~400 million t of plastic produced annually; ~8 million t enter oceans each year (UNEP).</a:t>
            </a:r>
          </a:p>
          <a:p>
            <a:pPr/>
            <a:r>
              <a:t>33 % of global land degraded; 75 % of agricultural soils have reduced organic matter (FAO).</a:t>
            </a:r>
          </a:p>
          <a:p>
            <a:pPr/>
            <a:r>
              <a:t>&gt;1 billion people exposed to unsafe environmental noise levels (WHO).</a:t>
            </a:r>
          </a:p>
          <a:p>
            <a:pPr/>
            <a:r>
              <a:t>Pollution‑related health costs ≈ $5 trillion USD per year (~7 % of global GDP) (World Bank).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Causes by Pollution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Air:</a:t>
            </a:r>
          </a:p>
          <a:p>
            <a:pPr lvl="1"/>
            <a:r>
              <a:t>Fossil‑fuel combustion (power, transport, industry)</a:t>
            </a:r>
          </a:p>
          <a:p>
            <a:pPr lvl="1"/>
            <a:r>
              <a:t>Residential solid‑fuel use</a:t>
            </a:r>
          </a:p>
          <a:p>
            <a:pPr lvl="1"/>
            <a:r>
              <a:t>Agricultural activities (NH₃)</a:t>
            </a:r>
          </a:p>
          <a:p>
            <a:pPr lvl="1"/>
            <a:r>
              <a:t>Industrial processes (SO₂, NOₓ, VOCs)</a:t>
            </a:r>
          </a:p>
          <a:p>
            <a:pPr/>
            <a:r>
              <a:t>Water:</a:t>
            </a:r>
          </a:p>
          <a:p>
            <a:pPr lvl="1"/>
            <a:r>
              <a:t>Untreated municipal &amp; industrial wastewater</a:t>
            </a:r>
          </a:p>
          <a:p>
            <a:pPr lvl="1"/>
            <a:r>
              <a:t>Agricultural runoff (nutrients, pesticides)</a:t>
            </a:r>
          </a:p>
          <a:p>
            <a:pPr lvl="1"/>
            <a:r>
              <a:t>Oil spills &amp; marine dumping</a:t>
            </a:r>
          </a:p>
          <a:p>
            <a:pPr lvl="1"/>
            <a:r>
              <a:t>Plastic litter</a:t>
            </a:r>
          </a:p>
          <a:p>
            <a:pPr/>
            <a:r>
              <a:t>Soil/Land:</a:t>
            </a:r>
          </a:p>
          <a:p>
            <a:pPr lvl="1"/>
            <a:r>
              <a:t>Excessive fertilizer/pesticide use</a:t>
            </a:r>
          </a:p>
          <a:p>
            <a:pPr lvl="1"/>
            <a:r>
              <a:t>Improper waste disposal (landfills, e‑waste)</a:t>
            </a:r>
          </a:p>
          <a:p>
            <a:pPr lvl="1"/>
            <a:r>
              <a:t>Mining &amp; quarrying</a:t>
            </a:r>
          </a:p>
          <a:p>
            <a:pPr lvl="1"/>
            <a:r>
              <a:t>Urban sprawl</a:t>
            </a:r>
          </a:p>
          <a:p>
            <a:pPr/>
            <a:r>
              <a:t>Noise:</a:t>
            </a:r>
          </a:p>
          <a:p>
            <a:pPr lvl="1"/>
            <a:r>
              <a:t>Road, rail, air traffic</a:t>
            </a:r>
          </a:p>
          <a:p>
            <a:pPr lvl="1"/>
            <a:r>
              <a:t>Construction activities</a:t>
            </a:r>
          </a:p>
          <a:p>
            <a:pPr lvl="1"/>
            <a:r>
              <a:t>Industrial machinery</a:t>
            </a:r>
          </a:p>
          <a:p>
            <a:pPr/>
            <a:r>
              <a:t>Light:</a:t>
            </a:r>
          </a:p>
          <a:p>
            <a:pPr lvl="1"/>
            <a:r>
              <a:t>Outdoor illumination (streetlights, signage)</a:t>
            </a:r>
          </a:p>
          <a:p>
            <a:pPr lvl="1"/>
            <a:r>
              <a:t>Architectural lighting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Effects of Pollution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Human Health:</a:t>
            </a:r>
          </a:p>
          <a:p>
            <a:pPr lvl="1"/>
            <a:r>
              <a:t>Respiratory &amp; cardiovascular diseases (PM₂.5, ozone)</a:t>
            </a:r>
          </a:p>
          <a:p>
            <a:pPr lvl="1"/>
            <a:r>
              <a:t>Cancer (benzene, asbestos)</a:t>
            </a:r>
          </a:p>
          <a:p>
            <a:pPr lvl="1"/>
            <a:r>
              <a:t>Water‑borne diseases (cholera, dysentery)</a:t>
            </a:r>
          </a:p>
          <a:p>
            <a:pPr lvl="1"/>
            <a:r>
              <a:t>Neurological impacts from noise &amp; heavy‑metal exposure</a:t>
            </a:r>
          </a:p>
          <a:p>
            <a:pPr/>
            <a:r>
              <a:t>Ecosystem Degradation:</a:t>
            </a:r>
          </a:p>
          <a:p>
            <a:pPr lvl="1"/>
            <a:r>
              <a:t>Acidification of lakes &amp; soils</a:t>
            </a:r>
          </a:p>
          <a:p>
            <a:pPr lvl="1"/>
            <a:r>
              <a:t>Eutrophication → algal blooms, dead zones</a:t>
            </a:r>
          </a:p>
          <a:p>
            <a:pPr lvl="1"/>
            <a:r>
              <a:t>Biodiversity loss (habitat contamination)</a:t>
            </a:r>
          </a:p>
          <a:p>
            <a:pPr/>
            <a:r>
              <a:t>Climate Interaction:</a:t>
            </a:r>
          </a:p>
          <a:p>
            <a:pPr lvl="1"/>
            <a:r>
              <a:t>Black carbon &amp; methane are both pollutants and potent GHGs</a:t>
            </a:r>
          </a:p>
          <a:p>
            <a:pPr lvl="1"/>
            <a:r>
              <a:t>Deforestation reduces carbon sinks</a:t>
            </a:r>
          </a:p>
          <a:p>
            <a:pPr/>
            <a:r>
              <a:t>Economic Burden:</a:t>
            </a:r>
          </a:p>
          <a:p>
            <a:pPr lvl="1"/>
            <a:r>
              <a:t>Healthcare costs, lost labor productivity</a:t>
            </a:r>
          </a:p>
          <a:p>
            <a:pPr lvl="1"/>
            <a:r>
              <a:t>Reduced agricultural yields</a:t>
            </a:r>
          </a:p>
          <a:p>
            <a:pPr lvl="1"/>
            <a:r>
              <a:t>Cleanup &amp; remediation expenses</a:t>
            </a:r>
          </a:p>
          <a:p>
            <a:pPr/>
            <a:r>
              <a:t>Social Inequity:</a:t>
            </a:r>
          </a:p>
          <a:p>
            <a:pPr lvl="1"/>
            <a:r>
              <a:t>Disproportionate impact on low‑income &amp; marginalized communities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&amp; Adaptation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Policy &amp; Regulation:</a:t>
            </a:r>
          </a:p>
          <a:p>
            <a:pPr lvl="1"/>
            <a:r>
              <a:t>Emission standards (EU Industrial Emissions Directive)</a:t>
            </a:r>
          </a:p>
          <a:p>
            <a:pPr lvl="1"/>
            <a:r>
              <a:t>Cap‑and‑trade or carbon pricing</a:t>
            </a:r>
          </a:p>
          <a:p>
            <a:pPr lvl="1"/>
            <a:r>
              <a:t>Ban on single‑use plastics</a:t>
            </a:r>
          </a:p>
          <a:p>
            <a:pPr/>
            <a:r>
              <a:t>Technology &amp; Innovation:</a:t>
            </a:r>
          </a:p>
          <a:p>
            <a:pPr lvl="1"/>
            <a:r>
              <a:t>End‑of‑pipe controls (scrubbers, catalytic converters)</a:t>
            </a:r>
          </a:p>
          <a:p>
            <a:pPr lvl="1"/>
            <a:r>
              <a:t>Renewable energy deployment</a:t>
            </a:r>
          </a:p>
          <a:p>
            <a:pPr lvl="1"/>
            <a:r>
              <a:t>Advanced wastewater treatment (membrane bioreactors)</a:t>
            </a:r>
          </a:p>
          <a:p>
            <a:pPr lvl="1"/>
            <a:r>
              <a:t>Low‑emission vehicles (EVs)</a:t>
            </a:r>
          </a:p>
          <a:p>
            <a:pPr/>
            <a:r>
              <a:t>Circular Economy:</a:t>
            </a:r>
          </a:p>
          <a:p>
            <a:pPr lvl="1"/>
            <a:r>
              <a:t>Reduce‑reuse‑recycle loops</a:t>
            </a:r>
          </a:p>
          <a:p>
            <a:pPr lvl="1"/>
            <a:r>
              <a:t>Extended producer responsibility for packaging</a:t>
            </a:r>
          </a:p>
          <a:p>
            <a:pPr lvl="1"/>
            <a:r>
              <a:t>Plastic‑to‑fuel technologies</a:t>
            </a:r>
          </a:p>
          <a:p>
            <a:pPr/>
            <a:r>
              <a:t>Agricultural Practices:</a:t>
            </a:r>
          </a:p>
          <a:p>
            <a:pPr lvl="1"/>
            <a:r>
              <a:t>Precision fertilization</a:t>
            </a:r>
          </a:p>
          <a:p>
            <a:pPr lvl="1"/>
            <a:r>
              <a:t>Integrated pest management (IPM)</a:t>
            </a:r>
          </a:p>
          <a:p>
            <a:pPr lvl="1"/>
            <a:r>
              <a:t>Conservation tillage</a:t>
            </a:r>
          </a:p>
          <a:p>
            <a:pPr/>
            <a:r>
              <a:t>Urban Planning:</a:t>
            </a:r>
          </a:p>
          <a:p>
            <a:pPr lvl="1"/>
            <a:r>
              <a:t>Low‑emission zones, public‑transport expansion</a:t>
            </a:r>
          </a:p>
          <a:p>
            <a:pPr lvl="1"/>
            <a:r>
              <a:t>Urban tree canopy, green roofs</a:t>
            </a:r>
          </a:p>
          <a:p>
            <a:pPr lvl="1"/>
            <a:r>
              <a:t>Noise barriers, shielded lighting</a:t>
            </a:r>
          </a:p>
          <a:p>
            <a:pPr/>
            <a:r>
              <a:t>Public Awareness:</a:t>
            </a:r>
          </a:p>
          <a:p>
            <a:pPr lvl="1"/>
            <a:r>
              <a:t>Education campaigns (air‑quality alerts)</a:t>
            </a:r>
          </a:p>
          <a:p>
            <a:pPr lvl="1"/>
            <a:r>
              <a:t>Incentives for eco‑friendly commuting</a:t>
            </a:r>
          </a:p>
          <a:p>
            <a:pPr/>
            <a:r>
              <a:t>International Cooperation:</a:t>
            </a:r>
          </a:p>
          <a:p>
            <a:pPr lvl="1"/>
            <a:r>
              <a:t>Paris Agreement (GHG mitigation)</a:t>
            </a:r>
          </a:p>
          <a:p>
            <a:pPr lvl="1"/>
            <a:r>
              <a:t>UN SDG 12 (Responsible Consumption)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Pollution Impacts (Illustrative)</a:t>
            </a:r>
          </a:p>
        </p:txBody>
      </p:sp>
      <p:pic>
        <p:nvPicPr>
          <p:cNvPr id="3" name="Picture 2" descr="pollution_impact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Pollution Cost Share</a:t>
            </a:r>
          </a:p>
        </p:txBody>
      </p:sp>
      <p:pic>
        <p:nvPicPr>
          <p:cNvPr id="3" name="Picture 2" descr="pollution_cos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Data‑Driven Targeting: Use satellite‑derived air‑quality data and water‑quality monitoring to prioritize hotspots.</a:t>
            </a:r>
          </a:p>
          <a:p>
            <a:pPr/>
            <a:r>
              <a:t>Co‑benefit Assessment: Quantify health co‑benefits of GHG mitigation for immediate mortality reductions.</a:t>
            </a:r>
          </a:p>
          <a:p>
            <a:pPr/>
            <a:r>
              <a:t>Equity Lens: Conduct environmental‑justice mapping to ensure interventions do not exacerbate disparities.</a:t>
            </a:r>
          </a:p>
          <a:p>
            <a:pPr/>
            <a:r>
              <a:t>Monitoring &amp; Verification: Deploy low‑cost sensor networks (AirQo, OpenAQ) for continuous feedback and policy adjustment.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WHO, Ambient Air Pollution: A Global Assessment (2021).</a:t>
            </a:r>
          </a:p>
          <a:p>
            <a:pPr/>
            <a:r>
              <a:t>WHO, Ambient Air Quality Guidelines (2022).</a:t>
            </a:r>
          </a:p>
          <a:p>
            <a:pPr/>
            <a:r>
              <a:t>WHO/UNICEF, Progress on Drinking Water, Sanitation and Hygiene (2022).</a:t>
            </a:r>
          </a:p>
          <a:p>
            <a:pPr/>
            <a:r>
              <a:t>UN Water, Industrial Wastewater Treatment Statistics (2022).</a:t>
            </a:r>
          </a:p>
          <a:p>
            <a:pPr/>
            <a:r>
              <a:t>UNEP, Plastic Pollution Outlook (2022).</a:t>
            </a:r>
          </a:p>
          <a:p>
            <a:pPr/>
            <a:r>
              <a:t>FAO, The State of the World’s Soils (2022).</a:t>
            </a:r>
          </a:p>
          <a:p>
            <a:pPr/>
            <a:r>
              <a:t>World Bank, Pollution and Health (2023).</a:t>
            </a:r>
          </a:p>
          <a:p>
            <a:pPr/>
            <a:r>
              <a:t>EU Industrial Emissions Directive, EU Green Deal Documents.</a:t>
            </a:r>
          </a:p>
          <a:p>
            <a:pPr/>
            <a:r>
              <a:t>IPCC AR6 (2021‑2022).</a:t>
            </a:r>
          </a:p>
          <a:p>
            <a:pPr/>
            <a:r>
              <a:t>Various national and international policy documents (Clean Air Act, Paris Agreement).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